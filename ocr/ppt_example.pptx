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4"/>
  </p:sldMasterIdLst>
  <p:notesMasterIdLst>
    <p:notesMasterId r:id="rId16"/>
  </p:notesMasterIdLst>
  <p:handoutMasterIdLst>
    <p:handoutMasterId r:id="rId17"/>
  </p:handoutMasterIdLst>
  <p:sldIdLst>
    <p:sldId id="1519" r:id="rId5"/>
    <p:sldId id="1531" r:id="rId6"/>
    <p:sldId id="1521" r:id="rId7"/>
    <p:sldId id="1522" r:id="rId8"/>
    <p:sldId id="1523" r:id="rId9"/>
    <p:sldId id="1525" r:id="rId10"/>
    <p:sldId id="1524" r:id="rId11"/>
    <p:sldId id="1526" r:id="rId12"/>
    <p:sldId id="1532" r:id="rId13"/>
    <p:sldId id="1534" r:id="rId14"/>
    <p:sldId id="152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9"/>
    <p:restoredTop sz="94702"/>
  </p:normalViewPr>
  <p:slideViewPr>
    <p:cSldViewPr snapToGrid="0">
      <p:cViewPr>
        <p:scale>
          <a:sx n="100" d="100"/>
          <a:sy n="100" d="100"/>
        </p:scale>
        <p:origin x="-643" y="-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64027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85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04740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35591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454426"/>
            <a:ext cx="9966960" cy="2011680"/>
          </a:xfrm>
        </p:spPr>
        <p:txBody>
          <a:bodyPr anchor="t" anchorCtr="0">
            <a:no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41033" y="454435"/>
            <a:ext cx="1485206" cy="1980986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863"/>
            <a:ext cx="12191999" cy="4254137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845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57200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569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06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655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1554480"/>
            <a:ext cx="7772400" cy="4572000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80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672379"/>
            <a:ext cx="11430000" cy="2011680"/>
          </a:xfrm>
        </p:spPr>
        <p:txBody>
          <a:bodyPr anchor="b">
            <a:no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869C3687-0CCA-1A11-F3DC-36C3F4E1F8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263081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29667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8467558" cy="155448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863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0" y="457200"/>
            <a:ext cx="4663440" cy="155448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9CAE8A8-A4C5-200F-8E7E-371FCA6020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715837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32320" y="2743200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2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35095" y="6245352"/>
            <a:ext cx="199668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003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29" y="453895"/>
            <a:ext cx="4114800" cy="192024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4429" y="2855041"/>
            <a:ext cx="411480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2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44988" y="0"/>
            <a:ext cx="7347011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49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4430" y="6245352"/>
            <a:ext cx="77525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6901" y="6249802"/>
            <a:ext cx="276607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53213" y="62498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411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639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85975"/>
            <a:ext cx="5326027" cy="2454796"/>
          </a:xfrm>
        </p:spPr>
        <p:txBody>
          <a:bodyPr>
            <a:noAutofit/>
          </a:bodyPr>
          <a:lstStyle>
            <a:lvl1pPr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2386584"/>
            <a:ext cx="4846827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757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744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71600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371600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1814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731520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73152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3387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365760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365760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3192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365760"/>
            <a:ext cx="11459937" cy="1920240"/>
          </a:xfrm>
        </p:spPr>
        <p:txBody>
          <a:bodyPr anchor="t" anchorCtr="0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2817340"/>
            <a:ext cx="11459937" cy="3330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805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365760"/>
            <a:ext cx="8229600" cy="1920240"/>
          </a:xfrm>
        </p:spPr>
        <p:txBody>
          <a:bodyPr anchor="b" anchorCtr="0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0" y="2651759"/>
            <a:ext cx="7447661" cy="3383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627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36576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64592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245352"/>
            <a:ext cx="333758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2767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0" y="365759"/>
            <a:ext cx="6720840" cy="27432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69833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256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640" y="3474719"/>
            <a:ext cx="6720840" cy="2651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120640" y="6245352"/>
            <a:ext cx="333758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153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5760" y="164592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245352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24535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207407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245352"/>
            <a:ext cx="349431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141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59" y="365760"/>
            <a:ext cx="10058400" cy="192024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357916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0" y="2651760"/>
            <a:ext cx="7498080" cy="320040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737359" y="6245352"/>
            <a:ext cx="349431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468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5760" y="1280160"/>
            <a:ext cx="6858000" cy="498348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245352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24535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72886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365760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1920240"/>
            <a:ext cx="4362450" cy="409575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24535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6920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5760" y="2011680"/>
            <a:ext cx="4360863" cy="409575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245352"/>
            <a:ext cx="20310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24535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24535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202322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6576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24535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682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5760" y="1380744"/>
            <a:ext cx="4572000" cy="498348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245352"/>
            <a:ext cx="20310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24535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24535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60700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58"/>
            <a:ext cx="5120640" cy="41148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5760" y="4572000"/>
            <a:ext cx="5120640" cy="160020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245352"/>
            <a:ext cx="20310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24535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24535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975480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365760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011680"/>
            <a:ext cx="3401568" cy="409575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245352"/>
            <a:ext cx="9223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245352"/>
            <a:ext cx="254689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5379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5760" y="2011680"/>
            <a:ext cx="3401568" cy="4095750"/>
          </a:xfrm>
        </p:spPr>
        <p:txBody>
          <a:bodyPr/>
          <a:lstStyle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245352"/>
            <a:ext cx="106762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24535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24535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114512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24535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245352"/>
            <a:ext cx="233516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0480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1619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2012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82296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54D11-E891-101E-685B-19466DD1AFD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65760" y="365760"/>
            <a:ext cx="349431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69FA7-81EA-0ABA-EF1C-4B30F2BC8F9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40849" y="3657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BCBEB9-FDBF-9149-EFC9-B0A651C33EF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96490" y="3657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82296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944723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760" y="1645920"/>
            <a:ext cx="6172200" cy="4425696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4344" y="1645920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9757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65760" y="2103120"/>
            <a:ext cx="4672584" cy="404164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0" y="36576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287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760" y="2103120"/>
            <a:ext cx="3490176" cy="404164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5088" y="365760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5505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4866588"/>
            <a:ext cx="5897880" cy="135331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4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3639" y="714714"/>
            <a:ext cx="10826496" cy="433425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9740984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14" y="4480560"/>
            <a:ext cx="10745191" cy="1828800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4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10826496" cy="433425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0268319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64608"/>
            <a:ext cx="7525512" cy="1545336"/>
          </a:xfrm>
        </p:spPr>
        <p:txBody>
          <a:bodyPr>
            <a:noAutofit/>
          </a:bodyPr>
          <a:lstStyle>
            <a:lvl1pPr algn="ctr">
              <a:lnSpc>
                <a:spcPct val="85000"/>
              </a:lnSpc>
              <a:defRPr sz="4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888751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64608"/>
            <a:ext cx="7525512" cy="1545336"/>
          </a:xfrm>
        </p:spPr>
        <p:txBody>
          <a:bodyPr>
            <a:noAutofit/>
          </a:bodyPr>
          <a:lstStyle>
            <a:lvl1pPr algn="ctr">
              <a:lnSpc>
                <a:spcPct val="85000"/>
              </a:lnSpc>
              <a:defRPr sz="4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737952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85000"/>
              </a:lnSpc>
              <a:buNone/>
              <a:defRPr sz="7200" b="0" cap="all" spc="-100" baseline="0"/>
            </a:lvl1pPr>
            <a:lvl2pPr marL="228600" indent="0">
              <a:lnSpc>
                <a:spcPct val="85000"/>
              </a:lnSpc>
              <a:buNone/>
              <a:defRPr sz="6600" b="0" cap="all" spc="-100" baseline="0"/>
            </a:lvl2pPr>
            <a:lvl3pPr marL="457200" indent="0">
              <a:lnSpc>
                <a:spcPct val="85000"/>
              </a:lnSpc>
              <a:buNone/>
              <a:defRPr sz="6000" b="0" cap="all" spc="-100" baseline="0"/>
            </a:lvl3pPr>
            <a:lvl4pPr marL="685800" indent="0">
              <a:lnSpc>
                <a:spcPct val="85000"/>
              </a:lnSpc>
              <a:buNone/>
              <a:defRPr sz="5400" b="0" cap="all" spc="-100" baseline="0"/>
            </a:lvl4pPr>
            <a:lvl5pPr marL="914400" indent="0">
              <a:lnSpc>
                <a:spcPct val="85000"/>
              </a:lnSpc>
              <a:buNone/>
              <a:defRPr sz="4800" b="0" cap="all" spc="-1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579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7200" b="0" cap="all" spc="-100" baseline="0"/>
            </a:lvl1pPr>
            <a:lvl2pPr marL="228600" indent="0">
              <a:lnSpc>
                <a:spcPct val="85000"/>
              </a:lnSpc>
              <a:buNone/>
              <a:defRPr sz="6600" b="0" cap="all" spc="-100" baseline="0"/>
            </a:lvl2pPr>
            <a:lvl3pPr marL="457200" indent="0">
              <a:lnSpc>
                <a:spcPct val="85000"/>
              </a:lnSpc>
              <a:buNone/>
              <a:defRPr sz="6000" b="0" cap="all" spc="-100" baseline="0"/>
            </a:lvl3pPr>
            <a:lvl4pPr marL="685800" indent="0">
              <a:lnSpc>
                <a:spcPct val="85000"/>
              </a:lnSpc>
              <a:buNone/>
              <a:defRPr sz="5400" b="0" cap="all" spc="-100" baseline="0"/>
            </a:lvl4pPr>
            <a:lvl5pPr marL="914400" indent="0">
              <a:lnSpc>
                <a:spcPct val="85000"/>
              </a:lnSpc>
              <a:buNone/>
              <a:defRPr sz="4800" b="0" cap="all" spc="-1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1333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" y="36576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200" b="0" cap="all" spc="-100" baseline="0"/>
            </a:lvl1pPr>
            <a:lvl2pPr marL="228600" indent="0">
              <a:lnSpc>
                <a:spcPct val="85000"/>
              </a:lnSpc>
              <a:buNone/>
              <a:defRPr sz="6600" b="0" cap="all" spc="-100" baseline="0"/>
            </a:lvl2pPr>
            <a:lvl3pPr marL="457200" indent="0">
              <a:lnSpc>
                <a:spcPct val="85000"/>
              </a:lnSpc>
              <a:buNone/>
              <a:defRPr sz="6000" b="0" cap="all" spc="-100" baseline="0"/>
            </a:lvl3pPr>
            <a:lvl4pPr marL="685800" indent="0">
              <a:lnSpc>
                <a:spcPct val="85000"/>
              </a:lnSpc>
              <a:buNone/>
              <a:defRPr sz="5400" b="0" cap="all" spc="-100" baseline="0"/>
            </a:lvl4pPr>
            <a:lvl5pPr marL="914400" indent="0">
              <a:lnSpc>
                <a:spcPct val="85000"/>
              </a:lnSpc>
              <a:buNone/>
              <a:defRPr sz="4800" b="0" cap="all" spc="-1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397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799"/>
            <a:ext cx="10972800" cy="5486402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buNone/>
              <a:defRPr sz="9600" b="0" cap="all" spc="-100" baseline="0"/>
            </a:lvl1pPr>
            <a:lvl2pPr marL="228600" indent="0">
              <a:lnSpc>
                <a:spcPct val="85000"/>
              </a:lnSpc>
              <a:buNone/>
              <a:defRPr sz="8800" b="0" cap="all" spc="-100" baseline="0"/>
            </a:lvl2pPr>
            <a:lvl3pPr marL="457200" indent="0">
              <a:lnSpc>
                <a:spcPct val="85000"/>
              </a:lnSpc>
              <a:buNone/>
              <a:defRPr sz="8000" b="0" cap="all" spc="-100" baseline="0"/>
            </a:lvl3pPr>
            <a:lvl4pPr marL="685800" indent="0">
              <a:lnSpc>
                <a:spcPct val="85000"/>
              </a:lnSpc>
              <a:buNone/>
              <a:defRPr sz="7200" b="0" cap="all" spc="-100" baseline="0"/>
            </a:lvl4pPr>
            <a:lvl5pPr marL="914400" indent="0">
              <a:lnSpc>
                <a:spcPct val="85000"/>
              </a:lnSpc>
              <a:buNone/>
              <a:defRPr sz="6600" b="0" cap="all" spc="-1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1217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94944"/>
            <a:ext cx="8970264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400" b="0" i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799" y="1364105"/>
            <a:ext cx="8970264" cy="4762375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8000" cap="all" spc="-15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34601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4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6000" cap="all" spc="-15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295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52120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1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6000" cap="all" spc="-15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56809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94944"/>
            <a:ext cx="8970264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400" b="0" i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799" y="1364105"/>
            <a:ext cx="8970264" cy="4762375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5000"/>
              </a:lnSpc>
              <a:spcBef>
                <a:spcPts val="0"/>
              </a:spcBef>
              <a:buNone/>
              <a:defRPr sz="8000" cap="all" spc="-15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77151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23436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7628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1554480"/>
            <a:ext cx="11459937" cy="1132258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11DD3132-F9B1-6253-54E0-6834950538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12192000" cy="13716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1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3017520"/>
            <a:ext cx="5577840" cy="3108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0570" y="3017520"/>
            <a:ext cx="5577840" cy="3108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8064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22774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76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22774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329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3339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3562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5760" y="219456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0" y="36576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2008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5760" y="2651760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365760"/>
            <a:ext cx="6519080" cy="5779007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3479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" y="3291840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61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576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096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2498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40849" y="62498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6490" y="62498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554480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96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838" r:id="rId15"/>
    <p:sldLayoutId id="2147483791" r:id="rId16"/>
    <p:sldLayoutId id="2147483792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40" r:id="rId32"/>
    <p:sldLayoutId id="2147483807" r:id="rId33"/>
    <p:sldLayoutId id="2147483808" r:id="rId34"/>
    <p:sldLayoutId id="2147483809" r:id="rId35"/>
    <p:sldLayoutId id="2147483810" r:id="rId36"/>
    <p:sldLayoutId id="2147483811" r:id="rId37"/>
    <p:sldLayoutId id="2147483812" r:id="rId38"/>
    <p:sldLayoutId id="2147483813" r:id="rId39"/>
    <p:sldLayoutId id="2147483814" r:id="rId40"/>
    <p:sldLayoutId id="2147483815" r:id="rId41"/>
    <p:sldLayoutId id="2147483816" r:id="rId42"/>
    <p:sldLayoutId id="2147483817" r:id="rId43"/>
    <p:sldLayoutId id="2147483818" r:id="rId44"/>
    <p:sldLayoutId id="2147483819" r:id="rId45"/>
    <p:sldLayoutId id="2147483820" r:id="rId46"/>
    <p:sldLayoutId id="2147483822" r:id="rId47"/>
    <p:sldLayoutId id="2147483823" r:id="rId48"/>
    <p:sldLayoutId id="2147483821" r:id="rId49"/>
    <p:sldLayoutId id="2147483824" r:id="rId50"/>
    <p:sldLayoutId id="2147483826" r:id="rId51"/>
    <p:sldLayoutId id="2147483827" r:id="rId52"/>
    <p:sldLayoutId id="2147483839" r:id="rId53"/>
    <p:sldLayoutId id="2147483828" r:id="rId54"/>
    <p:sldLayoutId id="2147483829" r:id="rId55"/>
    <p:sldLayoutId id="2147483830" r:id="rId56"/>
    <p:sldLayoutId id="2147483831" r:id="rId57"/>
    <p:sldLayoutId id="2147483832" r:id="rId58"/>
    <p:sldLayoutId id="2147483833" r:id="rId59"/>
    <p:sldLayoutId id="2147483834" r:id="rId60"/>
    <p:sldLayoutId id="2147483835" r:id="rId61"/>
    <p:sldLayoutId id="2147483836" r:id="rId6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6000" b="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BFD77D-C100-02DA-E229-570762CAF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454426"/>
            <a:ext cx="9966960" cy="2011680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F3029CE-08A9-46FE-05B6-E8487A43D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41033" y="454435"/>
            <a:ext cx="1485206" cy="1980986"/>
          </a:xfrm>
        </p:spPr>
        <p:txBody>
          <a:bodyPr/>
          <a:lstStyle/>
          <a:p>
            <a:r>
              <a:rPr lang="en-US" dirty="0"/>
              <a:t>Presented by Rene Magi</a:t>
            </a:r>
          </a:p>
        </p:txBody>
      </p:sp>
      <p:pic>
        <p:nvPicPr>
          <p:cNvPr id="6" name="Picture Placeholder 5" descr="A blue and white background">
            <a:extLst>
              <a:ext uri="{FF2B5EF4-FFF2-40B4-BE49-F238E27FC236}">
                <a16:creationId xmlns:a16="http://schemas.microsoft.com/office/drawing/2014/main" id="{6EF3C7F1-2BD6-4ABD-46CB-AEF4BFBD11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603863"/>
            <a:ext cx="12191999" cy="4254137"/>
          </a:xfrm>
        </p:spPr>
      </p:pic>
    </p:spTree>
    <p:extLst>
      <p:ext uri="{BB962C8B-B14F-4D97-AF65-F5344CB8AC3E}">
        <p14:creationId xmlns:p14="http://schemas.microsoft.com/office/powerpoint/2010/main" val="41345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A1E0FA-089A-1BF0-F4CC-3CFA5570F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85975"/>
            <a:ext cx="5326027" cy="2454796"/>
          </a:xfrm>
        </p:spPr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AAD46A-09BF-D4ED-3A22-695528E086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0" y="2386584"/>
            <a:ext cx="4846827" cy="2459736"/>
          </a:xfrm>
        </p:spPr>
        <p:txBody>
          <a:bodyPr>
            <a:normAutofit/>
          </a:bodyPr>
          <a:lstStyle/>
          <a:p>
            <a:r>
              <a:rPr lang="en-US" sz="1600" b="1" dirty="0"/>
              <a:t>Hello, I’m Rene Magi, COO of Proseware, Inc.</a:t>
            </a:r>
          </a:p>
          <a:p>
            <a:r>
              <a:rPr lang="en-US" sz="1600" dirty="0"/>
              <a:t>Leader in AI-driven business solutions</a:t>
            </a:r>
          </a:p>
          <a:p>
            <a:r>
              <a:rPr lang="en-US" sz="1600" dirty="0"/>
              <a:t>Passionate about scaling startups</a:t>
            </a:r>
          </a:p>
          <a:p>
            <a:r>
              <a:rPr lang="en-US" sz="1600" dirty="0"/>
              <a:t>15+ years in tech innovation</a:t>
            </a:r>
          </a:p>
          <a:p>
            <a:r>
              <a:rPr lang="en-US" sz="1600" dirty="0"/>
              <a:t>Speaker at Global Tech Summit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55333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AAA04A-A2C8-0CEA-B8BA-3C0017CE7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672379"/>
            <a:ext cx="11430000" cy="2011680"/>
          </a:xfrm>
        </p:spPr>
        <p:txBody>
          <a:bodyPr/>
          <a:lstStyle/>
          <a:p>
            <a:r>
              <a:rPr lang="en-US" dirty="0"/>
              <a:t>Comprehending market trends</a:t>
            </a:r>
          </a:p>
        </p:txBody>
      </p:sp>
      <p:pic>
        <p:nvPicPr>
          <p:cNvPr id="5" name="Picture Placeholder 4" descr="A close up of a painting">
            <a:extLst>
              <a:ext uri="{FF2B5EF4-FFF2-40B4-BE49-F238E27FC236}">
                <a16:creationId xmlns:a16="http://schemas.microsoft.com/office/drawing/2014/main" id="{1E8E2A07-32D3-8284-2D13-9C614EC0E1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4263081"/>
          </a:xfrm>
        </p:spPr>
      </p:pic>
    </p:spTree>
    <p:extLst>
      <p:ext uri="{BB962C8B-B14F-4D97-AF65-F5344CB8AC3E}">
        <p14:creationId xmlns:p14="http://schemas.microsoft.com/office/powerpoint/2010/main" val="2670231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59334-3C07-901C-75A2-75F5CFACB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14" y="4480560"/>
            <a:ext cx="10745191" cy="1828800"/>
          </a:xfrm>
        </p:spPr>
        <p:txBody>
          <a:bodyPr/>
          <a:lstStyle/>
          <a:p>
            <a:r>
              <a:rPr lang="en-US" dirty="0"/>
              <a:t>of businesses say digital transformation is essential </a:t>
            </a:r>
            <a:br>
              <a:rPr lang="en-US" dirty="0"/>
            </a:br>
            <a:r>
              <a:rPr lang="en-US" dirty="0"/>
              <a:t>to their survival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4205F-72D6-9F56-6B13-4183F6CCEB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548640"/>
            <a:ext cx="10826496" cy="4334256"/>
          </a:xfrm>
        </p:spPr>
        <p:txBody>
          <a:bodyPr/>
          <a:lstStyle/>
          <a:p>
            <a:r>
              <a:rPr lang="en-US" dirty="0"/>
              <a:t>85%</a:t>
            </a:r>
          </a:p>
        </p:txBody>
      </p:sp>
    </p:spTree>
    <p:extLst>
      <p:ext uri="{BB962C8B-B14F-4D97-AF65-F5344CB8AC3E}">
        <p14:creationId xmlns:p14="http://schemas.microsoft.com/office/powerpoint/2010/main" val="2574891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E6BE9E-1FE1-EE8A-A606-4E1C4176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96544C-2984-D65A-DA46-EDC283112B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685799"/>
            <a:ext cx="10972800" cy="5486402"/>
          </a:xfrm>
        </p:spPr>
        <p:txBody>
          <a:bodyPr/>
          <a:lstStyle/>
          <a:p>
            <a:r>
              <a:rPr lang="en-US" dirty="0"/>
              <a:t>Innovation is the foundation of success.</a:t>
            </a:r>
          </a:p>
        </p:txBody>
      </p:sp>
    </p:spTree>
    <p:extLst>
      <p:ext uri="{BB962C8B-B14F-4D97-AF65-F5344CB8AC3E}">
        <p14:creationId xmlns:p14="http://schemas.microsoft.com/office/powerpoint/2010/main" val="194187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681CB-FED0-2154-6732-51880D6C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0" y="365759"/>
            <a:ext cx="6720840" cy="2743200"/>
          </a:xfrm>
        </p:spPr>
        <p:txBody>
          <a:bodyPr/>
          <a:lstStyle/>
          <a:p>
            <a:r>
              <a:rPr lang="en-US" dirty="0"/>
              <a:t>Thriving in uncertainty</a:t>
            </a:r>
          </a:p>
        </p:txBody>
      </p:sp>
      <p:pic>
        <p:nvPicPr>
          <p:cNvPr id="9" name="Picture Placeholder 8" descr="A close up of a painting">
            <a:extLst>
              <a:ext uri="{FF2B5EF4-FFF2-40B4-BE49-F238E27FC236}">
                <a16:creationId xmlns:a16="http://schemas.microsoft.com/office/drawing/2014/main" id="{6FBD4207-20E6-5173-974C-E866674D5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4698332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7AD3E-7C15-FA02-D20C-039390FC446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640" y="3474719"/>
            <a:ext cx="6720840" cy="2651760"/>
          </a:xfrm>
        </p:spPr>
        <p:txBody>
          <a:bodyPr>
            <a:normAutofit/>
          </a:bodyPr>
          <a:lstStyle/>
          <a:p>
            <a:r>
              <a:rPr lang="en-US" sz="1600" b="1" dirty="0"/>
              <a:t>Adapting to change</a:t>
            </a:r>
          </a:p>
          <a:p>
            <a:r>
              <a:rPr lang="en-US" sz="1600" dirty="0"/>
              <a:t>Businesses that embrace agility respond more quickly and effectively to market shifts, customer demands, and unforeseen challenges.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Real-world impact</a:t>
            </a:r>
          </a:p>
          <a:p>
            <a:r>
              <a:rPr lang="en-US" sz="1600" dirty="0"/>
              <a:t>Industry leaders who stay ahead of disruption are those who proactively embrace change and continuously innovate.</a:t>
            </a:r>
          </a:p>
        </p:txBody>
      </p:sp>
    </p:spTree>
    <p:extLst>
      <p:ext uri="{BB962C8B-B14F-4D97-AF65-F5344CB8AC3E}">
        <p14:creationId xmlns:p14="http://schemas.microsoft.com/office/powerpoint/2010/main" val="110152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E306B-8A61-13F9-9F9D-B370E459E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672379"/>
            <a:ext cx="11430000" cy="2011680"/>
          </a:xfrm>
        </p:spPr>
        <p:txBody>
          <a:bodyPr/>
          <a:lstStyle/>
          <a:p>
            <a:r>
              <a:rPr lang="en-US" dirty="0"/>
              <a:t>Where do we go </a:t>
            </a:r>
            <a:br>
              <a:rPr lang="en-US" dirty="0"/>
            </a:br>
            <a:r>
              <a:rPr lang="en-US" dirty="0"/>
              <a:t>from here?</a:t>
            </a:r>
          </a:p>
        </p:txBody>
      </p:sp>
      <p:pic>
        <p:nvPicPr>
          <p:cNvPr id="5" name="Picture Placeholder 4" descr="A close up of a painting">
            <a:extLst>
              <a:ext uri="{FF2B5EF4-FFF2-40B4-BE49-F238E27FC236}">
                <a16:creationId xmlns:a16="http://schemas.microsoft.com/office/drawing/2014/main" id="{81A154A5-1304-3F77-C11D-1B07C9A3A2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4263081"/>
          </a:xfrm>
        </p:spPr>
      </p:pic>
    </p:spTree>
    <p:extLst>
      <p:ext uri="{BB962C8B-B14F-4D97-AF65-F5344CB8AC3E}">
        <p14:creationId xmlns:p14="http://schemas.microsoft.com/office/powerpoint/2010/main" val="98745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02986C2-642A-B736-5468-A4391535A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case studies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417729D-5075-B75F-A6E9-DE6FEAAB6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8535471"/>
              </p:ext>
            </p:extLst>
          </p:nvPr>
        </p:nvGraphicFramePr>
        <p:xfrm>
          <a:off x="365760" y="1737360"/>
          <a:ext cx="11459938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0034">
                  <a:extLst>
                    <a:ext uri="{9D8B030D-6E8A-4147-A177-3AD203B41FA5}">
                      <a16:colId xmlns:a16="http://schemas.microsoft.com/office/drawing/2014/main" val="1015653664"/>
                    </a:ext>
                  </a:extLst>
                </a:gridCol>
                <a:gridCol w="4354952">
                  <a:extLst>
                    <a:ext uri="{9D8B030D-6E8A-4147-A177-3AD203B41FA5}">
                      <a16:colId xmlns:a16="http://schemas.microsoft.com/office/drawing/2014/main" val="642826378"/>
                    </a:ext>
                  </a:extLst>
                </a:gridCol>
                <a:gridCol w="4354952">
                  <a:extLst>
                    <a:ext uri="{9D8B030D-6E8A-4147-A177-3AD203B41FA5}">
                      <a16:colId xmlns:a16="http://schemas.microsoft.com/office/drawing/2014/main" val="9421605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+mn-lt"/>
                        </a:rPr>
                        <a:t>Company</a:t>
                      </a:r>
                    </a:p>
                  </a:txBody>
                  <a:tcPr marL="228600" marR="2286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+mn-lt"/>
                        </a:rPr>
                        <a:t>Challenge</a:t>
                      </a:r>
                    </a:p>
                  </a:txBody>
                  <a:tcPr marL="228600" marR="2286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latin typeface="+mn-lt"/>
                        </a:rPr>
                        <a:t>Outcome</a:t>
                      </a:r>
                    </a:p>
                  </a:txBody>
                  <a:tcPr marL="228600" marR="228600" anchor="ctr"/>
                </a:tc>
                <a:extLst>
                  <a:ext uri="{0D108BD9-81ED-4DB2-BD59-A6C34878D82A}">
                    <a16:rowId xmlns:a16="http://schemas.microsoft.com/office/drawing/2014/main" val="179652336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Adatum Corporation</a:t>
                      </a:r>
                    </a:p>
                  </a:txBody>
                  <a:tcPr marL="228600" marR="2286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Digital transformation resistance	</a:t>
                      </a:r>
                    </a:p>
                  </a:txBody>
                  <a:tcPr marL="228600" marR="2286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Increased efficiency by 40%</a:t>
                      </a:r>
                    </a:p>
                  </a:txBody>
                  <a:tcPr marL="228600" marR="228600" anchor="ctr"/>
                </a:tc>
                <a:extLst>
                  <a:ext uri="{0D108BD9-81ED-4DB2-BD59-A6C34878D82A}">
                    <a16:rowId xmlns:a16="http://schemas.microsoft.com/office/drawing/2014/main" val="4244066008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Contoso</a:t>
                      </a:r>
                    </a:p>
                  </a:txBody>
                  <a:tcPr marL="228600" marR="2286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Market competition &amp; innovation gaps	</a:t>
                      </a:r>
                    </a:p>
                  </a:txBody>
                  <a:tcPr marL="228600" marR="2286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Launched a new product line, 2x revenue</a:t>
                      </a:r>
                    </a:p>
                  </a:txBody>
                  <a:tcPr marL="228600" marR="228600" anchor="ctr"/>
                </a:tc>
                <a:extLst>
                  <a:ext uri="{0D108BD9-81ED-4DB2-BD59-A6C34878D82A}">
                    <a16:rowId xmlns:a16="http://schemas.microsoft.com/office/drawing/2014/main" val="2112537045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Relecloud</a:t>
                      </a:r>
                    </a:p>
                  </a:txBody>
                  <a:tcPr marL="228600" marR="2286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Workforce adaptation to new technologies	</a:t>
                      </a:r>
                    </a:p>
                  </a:txBody>
                  <a:tcPr marL="228600" marR="2286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Reduced costs by 25%, improved retention</a:t>
                      </a:r>
                    </a:p>
                  </a:txBody>
                  <a:tcPr marL="228600" marR="228600" anchor="ctr"/>
                </a:tc>
                <a:extLst>
                  <a:ext uri="{0D108BD9-81ED-4DB2-BD59-A6C34878D82A}">
                    <a16:rowId xmlns:a16="http://schemas.microsoft.com/office/drawing/2014/main" val="429326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027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A9C270-DBAF-0DFA-5DE3-F1ACE3AC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94944"/>
            <a:ext cx="8970264" cy="466344"/>
          </a:xfrm>
        </p:spPr>
        <p:txBody>
          <a:bodyPr/>
          <a:lstStyle/>
          <a:p>
            <a:r>
              <a:rPr lang="en-US" dirty="0"/>
              <a:t>Albert Einstein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C523EE-6A3A-090E-9AE8-F8939A7E55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799" y="1364105"/>
            <a:ext cx="8970264" cy="4762375"/>
          </a:xfrm>
        </p:spPr>
        <p:txBody>
          <a:bodyPr/>
          <a:lstStyle/>
          <a:p>
            <a:r>
              <a:rPr lang="en-US" dirty="0"/>
              <a:t>“Strive not to be a success, but rather to be of value.”</a:t>
            </a:r>
          </a:p>
        </p:txBody>
      </p:sp>
    </p:spTree>
    <p:extLst>
      <p:ext uri="{BB962C8B-B14F-4D97-AF65-F5344CB8AC3E}">
        <p14:creationId xmlns:p14="http://schemas.microsoft.com/office/powerpoint/2010/main" val="3092057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FA58AF-FA11-D676-3464-CABAC955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58"/>
            <a:ext cx="5120640" cy="4114800"/>
          </a:xfrm>
        </p:spPr>
        <p:txBody>
          <a:bodyPr/>
          <a:lstStyle/>
          <a:p>
            <a:r>
              <a:rPr lang="en-US" dirty="0"/>
              <a:t>Embrace change. Lead the future.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BBB6A-70E1-C86C-52EF-C1C7103EED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5760" y="4572000"/>
            <a:ext cx="5120640" cy="1600200"/>
          </a:xfrm>
        </p:spPr>
        <p:txBody>
          <a:bodyPr>
            <a:normAutofit/>
          </a:bodyPr>
          <a:lstStyle/>
          <a:p>
            <a:r>
              <a:rPr lang="en-US" sz="1600" dirty="0"/>
              <a:t>The world is shifting and those who adapt </a:t>
            </a:r>
            <a:br>
              <a:rPr lang="en-US" sz="1600" dirty="0"/>
            </a:br>
            <a:r>
              <a:rPr lang="en-US" sz="1600" dirty="0"/>
              <a:t>and innovate will be the ones to lead the way. 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11" name="Picture Placeholder 10" descr="Colorful steps on a pool">
            <a:extLst>
              <a:ext uri="{FF2B5EF4-FFF2-40B4-BE49-F238E27FC236}">
                <a16:creationId xmlns:a16="http://schemas.microsoft.com/office/drawing/2014/main" id="{336B2E92-DDEF-A6A4-CE1E-978F179F151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7720" y="0"/>
            <a:ext cx="6274279" cy="6858000"/>
          </a:xfrm>
        </p:spPr>
      </p:pic>
    </p:spTree>
    <p:extLst>
      <p:ext uri="{BB962C8B-B14F-4D97-AF65-F5344CB8AC3E}">
        <p14:creationId xmlns:p14="http://schemas.microsoft.com/office/powerpoint/2010/main" val="2951428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7FDE15-A5F1-96C8-7F78-05613D5D9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454426"/>
            <a:ext cx="9966960" cy="2011680"/>
          </a:xfrm>
        </p:spPr>
        <p:txBody>
          <a:bodyPr/>
          <a:lstStyle/>
          <a:p>
            <a:r>
              <a:rPr lang="en-US" dirty="0"/>
              <a:t>Q&amp;A </a:t>
            </a:r>
            <a:br>
              <a:rPr lang="en-US" dirty="0"/>
            </a:br>
            <a:r>
              <a:rPr lang="en-US" dirty="0"/>
              <a:t>Section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A70CC0C-04CB-D3B7-4656-89AB6144B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41033" y="454435"/>
            <a:ext cx="1485206" cy="1980986"/>
          </a:xfrm>
        </p:spPr>
        <p:txBody>
          <a:bodyPr/>
          <a:lstStyle/>
          <a:p>
            <a:r>
              <a:rPr lang="en-US" dirty="0"/>
              <a:t>Panel discussion session</a:t>
            </a:r>
          </a:p>
        </p:txBody>
      </p:sp>
      <p:pic>
        <p:nvPicPr>
          <p:cNvPr id="6" name="Picture Placeholder 5" descr="A close up of a painting">
            <a:extLst>
              <a:ext uri="{FF2B5EF4-FFF2-40B4-BE49-F238E27FC236}">
                <a16:creationId xmlns:a16="http://schemas.microsoft.com/office/drawing/2014/main" id="{C710239E-4719-6C43-456B-3B79255266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603863"/>
            <a:ext cx="12191999" cy="4254137"/>
          </a:xfrm>
        </p:spPr>
      </p:pic>
    </p:spTree>
    <p:extLst>
      <p:ext uri="{BB962C8B-B14F-4D97-AF65-F5344CB8AC3E}">
        <p14:creationId xmlns:p14="http://schemas.microsoft.com/office/powerpoint/2010/main" val="3319213482"/>
      </p:ext>
    </p:extLst>
  </p:cSld>
  <p:clrMapOvr>
    <a:masterClrMapping/>
  </p:clrMapOvr>
</p:sld>
</file>

<file path=ppt/theme/theme1.xml><?xml version="1.0" encoding="utf-8"?>
<a:theme xmlns:a="http://schemas.openxmlformats.org/drawingml/2006/main" name="Modular maximalism">
  <a:themeElements>
    <a:clrScheme name="Modular maximalis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CC6E8"/>
      </a:accent1>
      <a:accent2>
        <a:srgbClr val="FE9F69"/>
      </a:accent2>
      <a:accent3>
        <a:srgbClr val="BDDBE1"/>
      </a:accent3>
      <a:accent4>
        <a:srgbClr val="E7D7EA"/>
      </a:accent4>
      <a:accent5>
        <a:srgbClr val="FD6456"/>
      </a:accent5>
      <a:accent6>
        <a:srgbClr val="B2BE32"/>
      </a:accent6>
      <a:hlink>
        <a:srgbClr val="467886"/>
      </a:hlink>
      <a:folHlink>
        <a:srgbClr val="96607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ar maximalism_Keynote_win32_EF_v6" id="{131B30B2-431C-4744-82F2-9EE90DBE6E44}" vid="{FD508BE3-ABD6-4603-A36E-672CAB9AB0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6353</TotalTime>
  <Words>220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Neue Haas Grotesk Text Pro</vt:lpstr>
      <vt:lpstr>Modular maximalism</vt:lpstr>
      <vt:lpstr>Shaping the future of our industry</vt:lpstr>
      <vt:lpstr>Welcome</vt:lpstr>
      <vt:lpstr>Comprehending market trends</vt:lpstr>
      <vt:lpstr>of businesses say digital transformation is essential  to their survival</vt:lpstr>
      <vt:lpstr>Quote</vt:lpstr>
      <vt:lpstr>Thriving in uncertainty</vt:lpstr>
      <vt:lpstr>Where do we go  from here?</vt:lpstr>
      <vt:lpstr>Industry case studies</vt:lpstr>
      <vt:lpstr>Albert Einstein</vt:lpstr>
      <vt:lpstr>Embrace change. Lead the future.</vt:lpstr>
      <vt:lpstr>Q&amp;A  Section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2024-06-26T20:20:27Z</dcterms:created>
  <dcterms:modified xsi:type="dcterms:W3CDTF">2025-06-26T06:43:46Z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